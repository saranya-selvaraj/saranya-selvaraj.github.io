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4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DM Sans" pitchFamily="2" charset="0"/>
      <p:regular r:id="rId15"/>
      <p:bold r:id="rId16"/>
    </p:embeddedFont>
    <p:embeddedFont>
      <p:font typeface="PT Serif" panose="020A0603040505020204" pitchFamily="18" charset="0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73CCFA-DC14-4B57-91CD-4BA4059640E0}" v="5" dt="2026-08-13T15:09:4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nya Selvaraj" userId="6b2bd2285f79476e" providerId="LiveId" clId="{8B03E2A9-8C5D-4936-81EA-916F7D16C56C}"/>
    <pc:docChg chg="custSel addSld modSld">
      <pc:chgData name="Saranya Selvaraj" userId="6b2bd2285f79476e" providerId="LiveId" clId="{8B03E2A9-8C5D-4936-81EA-916F7D16C56C}" dt="2026-08-13T15:09:40.284" v="185" actId="20577"/>
      <pc:docMkLst>
        <pc:docMk/>
      </pc:docMkLst>
      <pc:sldChg chg="addSp delSp modSp new mod">
        <pc:chgData name="Saranya Selvaraj" userId="6b2bd2285f79476e" providerId="LiveId" clId="{8B03E2A9-8C5D-4936-81EA-916F7D16C56C}" dt="2026-08-13T15:09:40.284" v="185" actId="20577"/>
        <pc:sldMkLst>
          <pc:docMk/>
          <pc:sldMk cId="229352566" sldId="266"/>
        </pc:sldMkLst>
        <pc:spChg chg="add mod">
          <ac:chgData name="Saranya Selvaraj" userId="6b2bd2285f79476e" providerId="LiveId" clId="{8B03E2A9-8C5D-4936-81EA-916F7D16C56C}" dt="2026-08-13T15:09:40.284" v="185" actId="20577"/>
          <ac:spMkLst>
            <pc:docMk/>
            <pc:sldMk cId="229352566" sldId="266"/>
            <ac:spMk id="2" creationId="{0FAA6957-BD24-CDC6-69B9-DDBAD4624F73}"/>
          </ac:spMkLst>
        </pc:spChg>
        <pc:spChg chg="add del mod">
          <ac:chgData name="Saranya Selvaraj" userId="6b2bd2285f79476e" providerId="LiveId" clId="{8B03E2A9-8C5D-4936-81EA-916F7D16C56C}" dt="2026-08-13T15:07:11.524" v="124"/>
          <ac:spMkLst>
            <pc:docMk/>
            <pc:sldMk cId="229352566" sldId="266"/>
            <ac:spMk id="4" creationId="{3B7DE7DE-342B-EB74-434C-7537BE74A23D}"/>
          </ac:spMkLst>
        </pc:spChg>
        <pc:picChg chg="add del mod">
          <ac:chgData name="Saranya Selvaraj" userId="6b2bd2285f79476e" providerId="LiveId" clId="{8B03E2A9-8C5D-4936-81EA-916F7D16C56C}" dt="2026-08-13T15:07:04.979" v="121" actId="478"/>
          <ac:picMkLst>
            <pc:docMk/>
            <pc:sldMk cId="229352566" sldId="266"/>
            <ac:picMk id="3" creationId="{13DEB590-72DF-ACAD-6AAC-ECE6B689DD9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75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497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607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02100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427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639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4141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9947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9452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8362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1209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31439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954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958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684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909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58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0430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05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235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4691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158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2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om.com/share/abd4ce507395400f8965f8f8378cb9de" TargetMode="External"/><Relationship Id="rId2" Type="http://schemas.openxmlformats.org/officeDocument/2006/relationships/hyperlink" Target="https://vital-intelligence.ai.studio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589223" y="1631092"/>
            <a:ext cx="5766836" cy="745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Vital Intelligence</a:t>
            </a:r>
            <a:endParaRPr lang="en-US" sz="4000" b="1" dirty="0"/>
          </a:p>
        </p:txBody>
      </p:sp>
      <p:sp>
        <p:nvSpPr>
          <p:cNvPr id="4" name="Text 1"/>
          <p:cNvSpPr/>
          <p:nvPr/>
        </p:nvSpPr>
        <p:spPr>
          <a:xfrm>
            <a:off x="3656210" y="276630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Passive food logging. Personal Metabolic Awareness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6210" y="3126198"/>
            <a:ext cx="107081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3746027" y="3173451"/>
            <a:ext cx="13483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CONCEPT STAGE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97870" y="3126198"/>
            <a:ext cx="170103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5"/>
          <p:cNvSpPr/>
          <p:nvPr/>
        </p:nvSpPr>
        <p:spPr>
          <a:xfrm>
            <a:off x="4887688" y="3173451"/>
            <a:ext cx="19785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CONSUMER WELLNESS ONLY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569743" y="3126198"/>
            <a:ext cx="143864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7"/>
          <p:cNvSpPr/>
          <p:nvPr/>
        </p:nvSpPr>
        <p:spPr>
          <a:xfrm>
            <a:off x="6640251" y="3153620"/>
            <a:ext cx="17162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MEDICAL DEVICE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pen book with pen on des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70764" y="453956"/>
            <a:ext cx="3533288" cy="40467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527000"/>
            <a:ext cx="4738241" cy="915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Manual Food Tracking Doesn't Work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488379" y="1718518"/>
            <a:ext cx="2283247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80%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93601" y="2351782"/>
            <a:ext cx="207280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give up within a month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88379" y="2663056"/>
            <a:ext cx="22832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people start strong, then life gets in the way.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43299" y="1718518"/>
            <a:ext cx="2283321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3169146" y="2351782"/>
            <a:ext cx="18315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Reliable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943299" y="2663056"/>
            <a:ext cx="228332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we remember eating rarely matches what we actually ate.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15839" y="3450431"/>
            <a:ext cx="2283247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941686" y="4083695"/>
            <a:ext cx="183155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Useful Context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715839" y="4394969"/>
            <a:ext cx="22832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Doctors and dietitians are still working off guesswork.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ble setting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17948" y="1104751"/>
            <a:ext cx="2933923" cy="29339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24339" y="709613"/>
            <a:ext cx="85754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1"/>
          <p:cNvSpPr/>
          <p:nvPr/>
        </p:nvSpPr>
        <p:spPr>
          <a:xfrm>
            <a:off x="6114157" y="756865"/>
            <a:ext cx="11351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MEGAN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24339" y="1042243"/>
            <a:ext cx="2628230" cy="148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38 · Weight Management · Tried Every Food Diary App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236940" y="2817837"/>
            <a:ext cx="24156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know I should track what I eat. But after a long day, I just can't face logging every meal."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24339" y="3785295"/>
            <a:ext cx="2628230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Megan </a:t>
            </a: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isn't alone. Millions of people want to eat better but burn out before the habit sticks.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85193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Built for Real People, Not Perfect Ones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496119" y="1933873"/>
            <a:ext cx="4004965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/>
          <p:nvPr/>
        </p:nvSpPr>
        <p:spPr>
          <a:xfrm>
            <a:off x="637877" y="207563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Weight Management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7877" y="2393231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know tracking works but they just can't keep it up.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933873"/>
            <a:ext cx="4005039" cy="827931"/>
          </a:xfrm>
          <a:prstGeom prst="roundRect">
            <a:avLst>
              <a:gd name="adj" fmla="val 25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/>
          <p:nvPr/>
        </p:nvSpPr>
        <p:spPr>
          <a:xfrm>
            <a:off x="4784601" y="207563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Metabolic Health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784601" y="2393231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Looking for patterns, not just calorie counts.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903562"/>
            <a:ext cx="4004965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637877" y="30453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General Wellness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7877" y="3362920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Curious about their health, but not looking for clinical tools.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903562"/>
            <a:ext cx="4005039" cy="1054745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/>
          <p:nvPr/>
        </p:nvSpPr>
        <p:spPr>
          <a:xfrm>
            <a:off x="4784601" y="304532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Calorie Trackers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84601" y="3362920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Already tracking , just exhausted by the manual effort.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302"/>
            <a:ext cx="5591770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It Works: Three Parts</a:t>
            </a:r>
            <a:endParaRPr lang="en-US" sz="2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525265"/>
            <a:ext cx="4787801" cy="28415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10481" y="3581626"/>
            <a:ext cx="1190138" cy="48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 Summarizes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10581" y="3581626"/>
            <a:ext cx="1190138" cy="48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Camera Captures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86226" y="3581626"/>
            <a:ext cx="1190138" cy="481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Wearable Detects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96119" y="452631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your meal to your evening summary fully automatic and insights provided based on your metabolic response.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6575"/>
            <a:ext cx="3480792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a Typical Day Actually Looks Like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564782" y="901601"/>
            <a:ext cx="14288" cy="3905324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4355902" y="1024012"/>
            <a:ext cx="230312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Shape 3"/>
          <p:cNvSpPr/>
          <p:nvPr/>
        </p:nvSpPr>
        <p:spPr>
          <a:xfrm>
            <a:off x="4528765" y="987996"/>
            <a:ext cx="86320" cy="86320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/>
          <p:nvPr/>
        </p:nvSpPr>
        <p:spPr>
          <a:xfrm>
            <a:off x="1887662" y="941189"/>
            <a:ext cx="2223567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8:05 am — Eating Event Detected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8066" y="1186309"/>
            <a:ext cx="351316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 picks up gesture, HR rise &amp; low movement. Event fires silently.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57638" y="1671861"/>
            <a:ext cx="230312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4528765" y="1635844"/>
            <a:ext cx="86320" cy="86320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/>
          <p:nvPr/>
        </p:nvSpPr>
        <p:spPr>
          <a:xfrm>
            <a:off x="5032623" y="1589038"/>
            <a:ext cx="250403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8:05 am — Camera Captures the Meal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32623" y="1834158"/>
            <a:ext cx="351323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brief silent photo captures the meal. Megan doesn't even look up.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55902" y="2245965"/>
            <a:ext cx="230312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4528765" y="2209949"/>
            <a:ext cx="86320" cy="86320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1659657" y="2163142"/>
            <a:ext cx="2451571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8:05 am — Food Identified &amp; Logged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066" y="2408262"/>
            <a:ext cx="351316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Scrambled eggs &amp; toast — 380 kcal. No notification sent.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57638" y="2820070"/>
            <a:ext cx="230312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4528765" y="2784053"/>
            <a:ext cx="86320" cy="86320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/>
          <p:nvPr/>
        </p:nvSpPr>
        <p:spPr>
          <a:xfrm>
            <a:off x="5032623" y="2737247"/>
            <a:ext cx="282825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8:05–9:35 am — Biometric Window Opens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32623" y="2982367"/>
            <a:ext cx="351323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HR, HRV &amp; skin temperature tracked for 90 minutes.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55902" y="3394174"/>
            <a:ext cx="230312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4528765" y="3358158"/>
            <a:ext cx="86320" cy="86320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/>
          <p:nvPr/>
        </p:nvSpPr>
        <p:spPr>
          <a:xfrm>
            <a:off x="2393826" y="3311351"/>
            <a:ext cx="1717402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1:10 pm — Lunch Flagged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8066" y="3556471"/>
            <a:ext cx="351316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Her body reacts differently to pasta today. Quietly noted — nothing sent yet.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57638" y="3968279"/>
            <a:ext cx="230312" cy="14288"/>
          </a:xfrm>
          <a:prstGeom prst="roundRect">
            <a:avLst>
              <a:gd name="adj" fmla="val 12092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4528765" y="3932262"/>
            <a:ext cx="86320" cy="86320"/>
          </a:xfrm>
          <a:prstGeom prst="roundRect">
            <a:avLst>
              <a:gd name="adj" fmla="val 33103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/>
          <p:nvPr/>
        </p:nvSpPr>
        <p:spPr>
          <a:xfrm>
            <a:off x="5032623" y="3885456"/>
            <a:ext cx="262770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8:00 pm — Evening Narrative Delivered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32623" y="4130576"/>
            <a:ext cx="3513237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relaxed summary of her day. 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Along with suggestion if something stood out.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52574"/>
            <a:ext cx="6081043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Nothing Gets Flagged Without Good Reason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5219" y="946919"/>
            <a:ext cx="869878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During the first 2–3 weeks, VI observes everything and builds your personal baseline</a:t>
            </a:r>
          </a:p>
          <a:p>
            <a:pPr>
              <a:lnSpc>
                <a:spcPct val="123000"/>
              </a:lnSpc>
            </a:pP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32" y="1350243"/>
            <a:ext cx="1954188" cy="10939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953" y="1484114"/>
            <a:ext cx="1570955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G1</a:t>
            </a: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Event Confirmed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1953" y="1781249"/>
            <a:ext cx="162929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triggers after a real meal — not random activity.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1738" y="1350243"/>
            <a:ext cx="1954262" cy="10939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62758" y="1484114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G2</a:t>
            </a: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Exercise/Movement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662758" y="1781249"/>
            <a:ext cx="1629370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there is exercise/movement after meal, its measured and captured.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932" y="2545110"/>
            <a:ext cx="1954188" cy="10939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953" y="2678981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G3</a:t>
            </a: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Stress 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1953" y="2875211"/>
            <a:ext cx="1629296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3000"/>
              </a:lnSpc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the wearable picks up stress signals after a meal, VI flags it for your confirmation . Over time, it learns how stress typically shows up for you.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1738" y="2545110"/>
            <a:ext cx="1954262" cy="1093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662758" y="2678981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G4</a:t>
            </a: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 Snack gets tracked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2662758" y="2976116"/>
            <a:ext cx="162937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Grazing or snacking  couple of hours after meal , gets included too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621953" y="3697486"/>
            <a:ext cx="1629296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7476" y="3835300"/>
            <a:ext cx="1954262" cy="111383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21952" y="3893716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G5 No Confounders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621953" y="4232089"/>
            <a:ext cx="1629370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Bad sleep, feeling unwell, or a lot of caffeine? The window is set aside.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4722614" y="1350243"/>
            <a:ext cx="3980780" cy="673110"/>
          </a:xfrm>
          <a:prstGeom prst="roundRect">
            <a:avLst>
              <a:gd name="adj" fmla="val 4296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2197" y="1523554"/>
            <a:ext cx="149498" cy="11958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11279" y="1470868"/>
            <a:ext cx="392973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Once your baseline is set, VI quietly tracks what’s routine and </a:t>
            </a:r>
          </a:p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surfaces what genuinely deviates –</a:t>
            </a:r>
          </a:p>
          <a:p>
            <a:pPr>
              <a:lnSpc>
                <a:spcPct val="123000"/>
              </a:lnSpc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relative to you, your habits, and your health goals.</a:t>
            </a:r>
            <a:endParaRPr lang="en-US" sz="900" b="1" dirty="0"/>
          </a:p>
          <a:p>
            <a:pPr marL="0" indent="0" algn="l">
              <a:lnSpc>
                <a:spcPct val="123000"/>
              </a:lnSpc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ecklist with solid fil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79672" y="1121922"/>
            <a:ext cx="3164327" cy="31643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396999"/>
            <a:ext cx="4753719" cy="901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Your Evening Summary: Simple, Calm, Honest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80640" y="1497806"/>
            <a:ext cx="4753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summary ends with either one clear suggestion, or a reassurance that everything looks fine.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80640" y="2080096"/>
            <a:ext cx="2310333" cy="148299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/>
          <p:nvPr/>
        </p:nvSpPr>
        <p:spPr>
          <a:xfrm>
            <a:off x="636984" y="2236440"/>
            <a:ext cx="180253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 1 : Quiet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6984" y="2541463"/>
            <a:ext cx="199764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consistent. "4 eating events. Sleep 7h 30m. All meals within your personal patterns. Keep it up."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3952" y="2080096"/>
            <a:ext cx="2310408" cy="148299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Text 6"/>
          <p:cNvSpPr/>
          <p:nvPr/>
        </p:nvSpPr>
        <p:spPr>
          <a:xfrm>
            <a:off x="3080296" y="2236440"/>
            <a:ext cx="180253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 2 : Emerging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80296" y="2541463"/>
            <a:ext cx="199772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seen 1–2×. "1pm pasta - stronger response than usual. Second time this week. Try the smaller portion."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640" y="3696072"/>
            <a:ext cx="4753719" cy="105035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/>
          <p:nvPr/>
        </p:nvSpPr>
        <p:spPr>
          <a:xfrm>
            <a:off x="636984" y="3852416"/>
            <a:ext cx="180253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 3 : Confirmed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6984" y="4157439"/>
            <a:ext cx="444103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3+ times. "Pasta flagged three times. Try adding protein. Worth raising with a dietitian - no urgency."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37914"/>
            <a:ext cx="6630516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Your Data Stays With You — Always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1" y="1048978"/>
            <a:ext cx="169441" cy="169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1574" y="1045518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Food Images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041574" y="1320850"/>
            <a:ext cx="339253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Analysed on your phone the moment the photo is taken. Deleted right after. Never stored, never sent.</a:t>
            </a:r>
            <a:endParaRPr lang="en-US" sz="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1" y="1829060"/>
            <a:ext cx="169441" cy="1694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1574" y="1825600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Raw Biometric Signal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041574" y="2100932"/>
            <a:ext cx="339253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Kept briefly while the system checks for patterns. Cleared as soon as the checks are done.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1" y="2609143"/>
            <a:ext cx="169441" cy="1694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1574" y="2605683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Meal Summaries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041574" y="2881015"/>
            <a:ext cx="339253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the summary stats are kept - stored locally on your device to build your personal baseline over time.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1" y="3389226"/>
            <a:ext cx="169441" cy="1694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41574" y="3385765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Cloud DB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1041574" y="3661097"/>
            <a:ext cx="339253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no Vital Intelligence server. Nothing ever leaves your device.</a:t>
            </a:r>
            <a:endParaRPr lang="en-US" sz="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1" y="4006937"/>
            <a:ext cx="169441" cy="16944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41574" y="4003477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Health Connect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1041574" y="4278809"/>
            <a:ext cx="3392537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Reads your sleep data from Apple Health or Google Health each morning. Doesn't write anything back.</a:t>
            </a:r>
            <a:endParaRPr lang="en-US" sz="8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503" y="944761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20650"/>
            <a:ext cx="3480792" cy="377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From Guesswork to Real Patterns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98066" y="885676"/>
            <a:ext cx="7947794" cy="1453158"/>
          </a:xfrm>
          <a:prstGeom prst="roundRect">
            <a:avLst>
              <a:gd name="adj" fmla="val 11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Shape 2"/>
          <p:cNvSpPr/>
          <p:nvPr/>
        </p:nvSpPr>
        <p:spPr>
          <a:xfrm>
            <a:off x="602828" y="890439"/>
            <a:ext cx="7938269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/>
          <p:nvPr/>
        </p:nvSpPr>
        <p:spPr>
          <a:xfrm>
            <a:off x="718021" y="951309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89500" y="951309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Vital Intelligence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2828" y="1179165"/>
            <a:ext cx="7938269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/>
          <p:nvPr/>
        </p:nvSpPr>
        <p:spPr>
          <a:xfrm>
            <a:off x="718021" y="1240036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rough 3-day memory of what you think you 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89500" y="1240036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complete record of every meal — captured automatically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2828" y="1467892"/>
            <a:ext cx="7938269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1" name="Text 9"/>
          <p:cNvSpPr/>
          <p:nvPr/>
        </p:nvSpPr>
        <p:spPr>
          <a:xfrm>
            <a:off x="718021" y="1528763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guesses on portion sizes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89500" y="1528763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Photo-based estimates, with you confirming anything unclear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2828" y="1756618"/>
            <a:ext cx="7938269" cy="28872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/>
          <p:nvPr/>
        </p:nvSpPr>
        <p:spPr>
          <a:xfrm>
            <a:off x="718021" y="1817489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idea how your body actually responded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9500" y="1817489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patterns showing how your body responds to specific foods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2828" y="2045345"/>
            <a:ext cx="7938269" cy="2887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Text 15"/>
          <p:cNvSpPr/>
          <p:nvPr/>
        </p:nvSpPr>
        <p:spPr>
          <a:xfrm>
            <a:off x="718021" y="2106216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people quit within two weeks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9500" y="2106216"/>
            <a:ext cx="4193679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Keeps working quietly, whether you're paying attention or not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8066" y="2479179"/>
            <a:ext cx="2876104" cy="302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Open Questions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98066" y="2985232"/>
            <a:ext cx="57522" cy="57522"/>
          </a:xfrm>
          <a:prstGeom prst="roundRect">
            <a:avLst>
              <a:gd name="adj" fmla="val 49676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/>
          <p:nvPr/>
        </p:nvSpPr>
        <p:spPr>
          <a:xfrm>
            <a:off x="749126" y="2921868"/>
            <a:ext cx="77967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we reliably detect real, personal metabolic patterns from passive biometric signals , not just noise?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066" y="3339368"/>
            <a:ext cx="57522" cy="57522"/>
          </a:xfrm>
          <a:prstGeom prst="roundRect">
            <a:avLst>
              <a:gd name="adj" fmla="val 49676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/>
          <p:nvPr/>
        </p:nvSpPr>
        <p:spPr>
          <a:xfrm>
            <a:off x="749126" y="3276005"/>
            <a:ext cx="77967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Technical feasibility of camera integrated in ring/wearable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8066" y="3693505"/>
            <a:ext cx="57522" cy="57522"/>
          </a:xfrm>
          <a:prstGeom prst="roundRect">
            <a:avLst>
              <a:gd name="adj" fmla="val 49676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/>
          <p:nvPr/>
        </p:nvSpPr>
        <p:spPr>
          <a:xfrm>
            <a:off x="749126" y="3630141"/>
            <a:ext cx="77967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Accuracy of eating event detection using gyroscope in wearables via hand-mouth gesture 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066" y="4047641"/>
            <a:ext cx="57522" cy="57522"/>
          </a:xfrm>
          <a:prstGeom prst="roundRect">
            <a:avLst>
              <a:gd name="adj" fmla="val 496766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/>
          <p:nvPr/>
        </p:nvSpPr>
        <p:spPr>
          <a:xfrm>
            <a:off x="749126" y="3984278"/>
            <a:ext cx="7796733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adoption for wearables with camera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6827" y="4391658"/>
            <a:ext cx="2900809" cy="212154"/>
          </a:xfrm>
          <a:prstGeom prst="roundRect">
            <a:avLst>
              <a:gd name="adj" fmla="val 6515"/>
            </a:avLst>
          </a:prstGeom>
          <a:noFill/>
          <a:ln w="4763">
            <a:solidFill>
              <a:srgbClr val="E04F00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/>
          <p:nvPr/>
        </p:nvSpPr>
        <p:spPr>
          <a:xfrm>
            <a:off x="671885" y="4441719"/>
            <a:ext cx="3210371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VITAL INTELLIGENCE · CONCEPT STAGE · NOT A MEDICAL DEVICE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A6957-BD24-CDC6-69B9-DDBAD4624F73}"/>
              </a:ext>
            </a:extLst>
          </p:cNvPr>
          <p:cNvSpPr txBox="1"/>
          <p:nvPr/>
        </p:nvSpPr>
        <p:spPr>
          <a:xfrm>
            <a:off x="1024647" y="797668"/>
            <a:ext cx="62062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Link to Prototype – </a:t>
            </a:r>
            <a:r>
              <a:rPr lang="en-IE" dirty="0">
                <a:hlinkClick r:id="rId2"/>
              </a:rPr>
              <a:t>https://vital-</a:t>
            </a:r>
            <a:r>
              <a:rPr lang="en-IE" dirty="0" err="1">
                <a:hlinkClick r:id="rId2"/>
              </a:rPr>
              <a:t>intelligence.ai.studio</a:t>
            </a:r>
            <a:endParaRPr lang="en-IE" dirty="0"/>
          </a:p>
          <a:p>
            <a:endParaRPr lang="en-IE" dirty="0"/>
          </a:p>
          <a:p>
            <a:r>
              <a:rPr lang="en-IE" dirty="0"/>
              <a:t>Link to video demo –</a:t>
            </a:r>
          </a:p>
          <a:p>
            <a:r>
              <a:rPr lang="en-IE" dirty="0"/>
              <a:t> </a:t>
            </a:r>
            <a:r>
              <a:rPr lang="en-IE" dirty="0">
                <a:hlinkClick r:id="rId3"/>
              </a:rPr>
              <a:t>https://</a:t>
            </a:r>
            <a:r>
              <a:rPr lang="en-IE" dirty="0" err="1">
                <a:hlinkClick r:id="rId3"/>
              </a:rPr>
              <a:t>www.loom.com</a:t>
            </a:r>
            <a:r>
              <a:rPr lang="en-IE" dirty="0">
                <a:hlinkClick r:id="rId3"/>
              </a:rPr>
              <a:t>/share/</a:t>
            </a:r>
            <a:r>
              <a:rPr lang="en-IE" dirty="0" err="1">
                <a:hlinkClick r:id="rId3"/>
              </a:rPr>
              <a:t>abd4ce507395400f8965f8f8378cb9de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935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68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98</TotalTime>
  <Words>881</Words>
  <Application>Microsoft Office PowerPoint</Application>
  <PresentationFormat>On-screen Show (16:9)</PresentationFormat>
  <Paragraphs>113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 Light</vt:lpstr>
      <vt:lpstr>PT Serif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Saranya Selvaraj</dc:creator>
  <cp:lastModifiedBy>Saranya Selvaraj</cp:lastModifiedBy>
  <cp:revision>2</cp:revision>
  <dcterms:created xsi:type="dcterms:W3CDTF">2026-06-05T13:00:13Z</dcterms:created>
  <dcterms:modified xsi:type="dcterms:W3CDTF">2026-08-13T15:09:42Z</dcterms:modified>
</cp:coreProperties>
</file>